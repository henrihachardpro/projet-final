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9D414C-61BF-4744-A169-104BD90AB1C5}" v="1647" dt="2026-09-01T08:01:04.824"/>
    <p1510:client id="{EE9BE610-46F8-40C0-BD60-38CB3F78E704}" v="450" dt="2026-08-31T17:37:12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96051" y="-758524"/>
            <a:ext cx="9799898" cy="2387600"/>
          </a:xfrm>
        </p:spPr>
        <p:txBody>
          <a:bodyPr>
            <a:normAutofit/>
          </a:bodyPr>
          <a:lstStyle/>
          <a:p>
            <a:r>
              <a:rPr lang="fr-FR" sz="5400" b="1" dirty="0">
                <a:latin typeface="Franklin Gothic"/>
              </a:rPr>
              <a:t>Soutenance Data </a:t>
            </a:r>
            <a:r>
              <a:rPr lang="fr-FR" sz="5400" b="1" dirty="0" err="1">
                <a:latin typeface="Franklin Gothic"/>
              </a:rPr>
              <a:t>Analyst</a:t>
            </a:r>
            <a:r>
              <a:rPr lang="fr-FR" sz="5400" b="1" dirty="0">
                <a:latin typeface="Franklin Gothic"/>
              </a:rPr>
              <a:t> &amp; IA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147595" y="5463633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1800"/>
              <a:t>Henri HACHARD</a:t>
            </a:r>
          </a:p>
          <a:p>
            <a:r>
              <a:rPr lang="fr-FR" sz="1800"/>
              <a:t>Chargé de Support Technique Avant-Vente</a:t>
            </a:r>
            <a:endParaRPr lang="fr-FR" sz="1800" dirty="0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C11C5356-D583-8461-B798-13CA2AE3E8F8}"/>
              </a:ext>
            </a:extLst>
          </p:cNvPr>
          <p:cNvSpPr txBox="1">
            <a:spLocks/>
          </p:cNvSpPr>
          <p:nvPr/>
        </p:nvSpPr>
        <p:spPr>
          <a:xfrm>
            <a:off x="-636953" y="250302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latin typeface="Franklin Gothic"/>
              </a:rPr>
              <a:t>Résolution d'une problématique en entreprise</a:t>
            </a:r>
          </a:p>
          <a:p>
            <a:endParaRPr lang="fr-FR" dirty="0">
              <a:latin typeface="Franklin Gothic"/>
            </a:endParaRPr>
          </a:p>
          <a:p>
            <a:r>
              <a:rPr lang="fr-FR" dirty="0">
                <a:latin typeface="Franklin Gothic"/>
              </a:rPr>
              <a:t>OIV : Distributeur/fabricants de matériaux de </a:t>
            </a:r>
            <a:r>
              <a:rPr lang="fr-FR">
                <a:latin typeface="Franklin Gothic"/>
              </a:rPr>
              <a:t>construction</a:t>
            </a:r>
          </a:p>
          <a:p>
            <a:endParaRPr lang="fr-FR" dirty="0">
              <a:latin typeface="Franklin Gothic"/>
            </a:endParaRPr>
          </a:p>
          <a:p>
            <a:r>
              <a:rPr lang="fr-FR">
                <a:latin typeface="Franklin Gothic"/>
              </a:rPr>
              <a:t>Entreprise du groupe AIRVANCE</a:t>
            </a:r>
            <a:endParaRPr lang="fr-FR" dirty="0">
              <a:latin typeface="Franklin Gothic"/>
            </a:endParaRPr>
          </a:p>
        </p:txBody>
      </p:sp>
      <p:pic>
        <p:nvPicPr>
          <p:cNvPr id="6" name="Image 5" descr="Ouest Isol Ventil · Fabricant distributeur en génie climatique">
            <a:extLst>
              <a:ext uri="{FF2B5EF4-FFF2-40B4-BE49-F238E27FC236}">
                <a16:creationId xmlns:a16="http://schemas.microsoft.com/office/drawing/2014/main" id="{FC57FF14-3350-5010-1A3B-F1DB2512A6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144" b="24600"/>
          <a:stretch>
            <a:fillRect/>
          </a:stretch>
        </p:blipFill>
        <p:spPr>
          <a:xfrm>
            <a:off x="8511673" y="1939804"/>
            <a:ext cx="2390939" cy="1249408"/>
          </a:xfrm>
          <a:prstGeom prst="rect">
            <a:avLst/>
          </a:prstGeom>
        </p:spPr>
      </p:pic>
      <p:pic>
        <p:nvPicPr>
          <p:cNvPr id="4" name="Image 3" descr="France Air devient Airvance">
            <a:extLst>
              <a:ext uri="{FF2B5EF4-FFF2-40B4-BE49-F238E27FC236}">
                <a16:creationId xmlns:a16="http://schemas.microsoft.com/office/drawing/2014/main" id="{DD9F7304-E6F8-5441-0F65-15B1A47CDD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13" t="21970" r="10646" b="18182"/>
          <a:stretch>
            <a:fillRect/>
          </a:stretch>
        </p:blipFill>
        <p:spPr>
          <a:xfrm>
            <a:off x="8277403" y="3327657"/>
            <a:ext cx="2865018" cy="111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1F2B9-B555-C9F3-705A-EEC138B72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235"/>
            <a:ext cx="10515600" cy="1325563"/>
          </a:xfrm>
        </p:spPr>
        <p:txBody>
          <a:bodyPr/>
          <a:lstStyle/>
          <a:p>
            <a:r>
              <a:rPr lang="fr-FR"/>
              <a:t>Le déroulement du projet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4A00A3-1B77-4073-0AB2-B1D5F3A87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87" y="1709878"/>
            <a:ext cx="1134511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arenR"/>
            </a:pPr>
            <a:r>
              <a:rPr lang="fr-FR"/>
              <a:t>Contexte</a:t>
            </a:r>
          </a:p>
          <a:p>
            <a:pPr marL="514350" indent="-514350">
              <a:buAutoNum type="arabicParenR"/>
            </a:pPr>
            <a:r>
              <a:rPr lang="fr-FR"/>
              <a:t>La problématique initiale</a:t>
            </a:r>
            <a:endParaRPr lang="fr-FR" dirty="0"/>
          </a:p>
          <a:p>
            <a:pPr marL="514350" indent="-514350">
              <a:buAutoNum type="arabicParenR"/>
            </a:pPr>
            <a:r>
              <a:rPr lang="fr-FR"/>
              <a:t>Premières idées pour trouver une solution complète</a:t>
            </a:r>
            <a:endParaRPr lang="fr-FR" dirty="0"/>
          </a:p>
          <a:p>
            <a:pPr marL="514350" indent="-514350">
              <a:buAutoNum type="arabicParenR"/>
            </a:pPr>
            <a:r>
              <a:rPr lang="fr-FR"/>
              <a:t>Mise en œuvre d'une solution Python – </a:t>
            </a:r>
            <a:r>
              <a:rPr lang="fr-FR">
                <a:ea typeface="+mn-lt"/>
                <a:cs typeface="+mn-lt"/>
              </a:rPr>
              <a:t>Architecture fonctionnelle</a:t>
            </a:r>
            <a:endParaRPr lang="fr-FR" dirty="0"/>
          </a:p>
          <a:p>
            <a:pPr marL="514350" indent="-514350">
              <a:buAutoNum type="arabicParenR"/>
            </a:pPr>
            <a:r>
              <a:rPr lang="fr-FR"/>
              <a:t>Présentation de l'outils aux référents de l'entreprise</a:t>
            </a:r>
            <a:endParaRPr lang="fr-FR" dirty="0"/>
          </a:p>
          <a:p>
            <a:pPr marL="514350" indent="-514350">
              <a:buAutoNum type="arabicParenR"/>
            </a:pPr>
            <a:r>
              <a:rPr lang="fr-FR"/>
              <a:t>Mise en évidence d'anomalies de données de l'entreprise</a:t>
            </a:r>
            <a:endParaRPr lang="fr-FR" dirty="0"/>
          </a:p>
          <a:p>
            <a:pPr marL="514350" indent="-514350">
              <a:buAutoNum type="arabicParenR"/>
            </a:pPr>
            <a:r>
              <a:rPr lang="fr-FR"/>
              <a:t>Version finale validée pour réalisation de tests</a:t>
            </a:r>
            <a:endParaRPr lang="fr-FR" dirty="0"/>
          </a:p>
          <a:p>
            <a:pPr marL="514350" indent="-514350">
              <a:buAutoNum type="arabicParenR"/>
            </a:pPr>
            <a:r>
              <a:rPr lang="fr-FR"/>
              <a:t>La suite du projet ?</a:t>
            </a:r>
            <a:endParaRPr lang="fr-FR" dirty="0"/>
          </a:p>
          <a:p>
            <a:pPr marL="514350" indent="-514350">
              <a:buAutoNum type="arabicParenR"/>
            </a:pPr>
            <a:endParaRPr lang="fr-FR" dirty="0"/>
          </a:p>
          <a:p>
            <a:pPr marL="514350" indent="-514350">
              <a:buAutoNum type="arabicParenR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3949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D29237-AE93-F8DC-72D7-08AD4BF5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7"/>
            <a:ext cx="10515600" cy="1325563"/>
          </a:xfrm>
        </p:spPr>
        <p:txBody>
          <a:bodyPr/>
          <a:lstStyle/>
          <a:p>
            <a:pPr marL="742950" indent="-742950">
              <a:buAutoNum type="arabicParenR"/>
            </a:pPr>
            <a:r>
              <a:rPr lang="fr-FR"/>
              <a:t>Le 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59C9EE-2CCC-A042-1570-AE5F9F63F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66" y="1178447"/>
            <a:ext cx="10515600" cy="17313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OIV : 900 collaborateurs – 41 agences commerciales</a:t>
            </a:r>
          </a:p>
          <a:p>
            <a:endParaRPr lang="fr-FR" dirty="0"/>
          </a:p>
          <a:p>
            <a:r>
              <a:rPr lang="fr-FR"/>
              <a:t>AIRVANCE GROUP : 3000 collaborateurs </a:t>
            </a:r>
            <a:endParaRPr lang="fr-FR" dirty="0"/>
          </a:p>
        </p:txBody>
      </p:sp>
      <p:pic>
        <p:nvPicPr>
          <p:cNvPr id="5" name="Image 4" descr="Ouest Isol Ventil · Fabricant distributeur en génie climatique">
            <a:extLst>
              <a:ext uri="{FF2B5EF4-FFF2-40B4-BE49-F238E27FC236}">
                <a16:creationId xmlns:a16="http://schemas.microsoft.com/office/drawing/2014/main" id="{68BF9098-5A3D-E776-0D3D-BD5E1BF7BB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144" b="24600"/>
          <a:stretch>
            <a:fillRect/>
          </a:stretch>
        </p:blipFill>
        <p:spPr>
          <a:xfrm>
            <a:off x="9242358" y="906407"/>
            <a:ext cx="2390939" cy="1249408"/>
          </a:xfrm>
          <a:prstGeom prst="rect">
            <a:avLst/>
          </a:prstGeom>
        </p:spPr>
      </p:pic>
      <p:pic>
        <p:nvPicPr>
          <p:cNvPr id="7" name="Image 6" descr="France Air devient Airvance">
            <a:extLst>
              <a:ext uri="{FF2B5EF4-FFF2-40B4-BE49-F238E27FC236}">
                <a16:creationId xmlns:a16="http://schemas.microsoft.com/office/drawing/2014/main" id="{75107E55-87F9-DA45-3943-1998160521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13" t="21970" r="10646" b="18182"/>
          <a:stretch>
            <a:fillRect/>
          </a:stretch>
        </p:blipFill>
        <p:spPr>
          <a:xfrm>
            <a:off x="8903705" y="2158561"/>
            <a:ext cx="2865018" cy="1113161"/>
          </a:xfrm>
          <a:prstGeom prst="rect">
            <a:avLst/>
          </a:prstGeom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8DC3B99F-C30A-69FC-3A46-604F75990155}"/>
              </a:ext>
            </a:extLst>
          </p:cNvPr>
          <p:cNvSpPr txBox="1">
            <a:spLocks/>
          </p:cNvSpPr>
          <p:nvPr/>
        </p:nvSpPr>
        <p:spPr>
          <a:xfrm>
            <a:off x="301668" y="3533340"/>
            <a:ext cx="9670093" cy="30256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Un logiciel de </a:t>
            </a:r>
            <a:r>
              <a:rPr lang="fr-FR"/>
              <a:t>sélection/dimensionnement destiné à la vente de produits de supportage</a:t>
            </a:r>
          </a:p>
          <a:p>
            <a:r>
              <a:rPr lang="fr-FR"/>
              <a:t>Budget : 300k€</a:t>
            </a:r>
          </a:p>
          <a:p>
            <a:r>
              <a:rPr lang="fr-FR"/>
              <a:t>Recueil des retours utilisateurs via notre support technique</a:t>
            </a:r>
          </a:p>
          <a:p>
            <a:r>
              <a:rPr lang="fr-FR"/>
              <a:t>Echange avec l'équipe projet sur les retours et les solutions possibles (vis-à-vis du budget)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209EDDA-990A-9262-4829-028491794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294" y="3751741"/>
            <a:ext cx="1913221" cy="109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87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E55F-D0FB-8676-0AB4-E9C0A5C38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9826CA-A2B1-980F-FC3D-A7C00176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7"/>
            <a:ext cx="10515600" cy="1325563"/>
          </a:xfrm>
        </p:spPr>
        <p:txBody>
          <a:bodyPr/>
          <a:lstStyle/>
          <a:p>
            <a:r>
              <a:rPr lang="fr-FR"/>
              <a:t>2)  La problématique initiale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E18A61B-21E7-8F79-8BC4-5943EB037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241" y="1324584"/>
            <a:ext cx="11214969" cy="49880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Le logiciel dans sa version finale ne permet pas de répondre à toutes les problématiques du réseau commercial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Export de la lis</a:t>
            </a:r>
            <a:r>
              <a:rPr lang="fr-FR"/>
              <a:t>te de matériel vers l'ERP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Calcul </a:t>
            </a:r>
            <a:r>
              <a:rPr lang="fr-FR"/>
              <a:t>de chutes intégré au logiciel            </a:t>
            </a:r>
            <a:endParaRPr lang="fr-FR" dirty="0"/>
          </a:p>
          <a:p>
            <a:pPr marL="0" indent="0">
              <a:buNone/>
            </a:pPr>
            <a:r>
              <a:rPr lang="fr-FR"/>
              <a:t>mais pas d'optimisation des découpes 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Export .csv          mais incomplet         et .</a:t>
            </a:r>
            <a:r>
              <a:rPr lang="fr-FR" dirty="0" err="1"/>
              <a:t>pdf</a:t>
            </a:r>
            <a:r>
              <a:rPr lang="fr-FR" dirty="0"/>
              <a:t> professionnel               </a:t>
            </a:r>
          </a:p>
          <a:p>
            <a:pPr marL="0" indent="0">
              <a:buNone/>
            </a:pPr>
            <a:r>
              <a:rPr lang="fr-FR"/>
              <a:t>nécessite un retraitement manuel pour réaliser un devis cohérent</a:t>
            </a:r>
          </a:p>
        </p:txBody>
      </p:sp>
      <p:sp>
        <p:nvSpPr>
          <p:cNvPr id="8" name="Signe de multiplication 7">
            <a:extLst>
              <a:ext uri="{FF2B5EF4-FFF2-40B4-BE49-F238E27FC236}">
                <a16:creationId xmlns:a16="http://schemas.microsoft.com/office/drawing/2014/main" id="{DF56BF47-C9AC-0CD1-4A56-E0558886B4F8}"/>
              </a:ext>
            </a:extLst>
          </p:cNvPr>
          <p:cNvSpPr/>
          <p:nvPr/>
        </p:nvSpPr>
        <p:spPr>
          <a:xfrm>
            <a:off x="6951944" y="2682656"/>
            <a:ext cx="542795" cy="59498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51508DC-A228-AD9E-CDB0-840AEED3E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592" y="3693540"/>
            <a:ext cx="488516" cy="525196"/>
          </a:xfrm>
          <a:prstGeom prst="rect">
            <a:avLst/>
          </a:prstGeom>
        </p:spPr>
      </p:pic>
      <p:sp>
        <p:nvSpPr>
          <p:cNvPr id="11" name="Signe de multiplication 10">
            <a:extLst>
              <a:ext uri="{FF2B5EF4-FFF2-40B4-BE49-F238E27FC236}">
                <a16:creationId xmlns:a16="http://schemas.microsoft.com/office/drawing/2014/main" id="{57AA28FD-DC76-EF0B-A7E9-13E678949D88}"/>
              </a:ext>
            </a:extLst>
          </p:cNvPr>
          <p:cNvSpPr/>
          <p:nvPr/>
        </p:nvSpPr>
        <p:spPr>
          <a:xfrm>
            <a:off x="5480136" y="5219176"/>
            <a:ext cx="542795" cy="59498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F478339-1D09-43E2-F47E-3D7329962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276" y="5196661"/>
            <a:ext cx="488516" cy="525196"/>
          </a:xfrm>
          <a:prstGeom prst="rect">
            <a:avLst/>
          </a:prstGeom>
        </p:spPr>
      </p:pic>
      <p:sp>
        <p:nvSpPr>
          <p:cNvPr id="13" name="Signe de multiplication 12">
            <a:extLst>
              <a:ext uri="{FF2B5EF4-FFF2-40B4-BE49-F238E27FC236}">
                <a16:creationId xmlns:a16="http://schemas.microsoft.com/office/drawing/2014/main" id="{883DBB8C-9885-6B3D-BD3A-9EDE3382DA93}"/>
              </a:ext>
            </a:extLst>
          </p:cNvPr>
          <p:cNvSpPr/>
          <p:nvPr/>
        </p:nvSpPr>
        <p:spPr>
          <a:xfrm>
            <a:off x="10814135" y="5720216"/>
            <a:ext cx="542795" cy="59498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DDF7F16-935A-789B-3975-D5965BA51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413" y="5217539"/>
            <a:ext cx="488516" cy="5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8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2685-1CB1-1D7E-19D7-B3516C5C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8D1E47-9FDB-32F1-0DC5-54E6B742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64" y="386002"/>
            <a:ext cx="10515600" cy="1325563"/>
          </a:xfrm>
        </p:spPr>
        <p:txBody>
          <a:bodyPr/>
          <a:lstStyle/>
          <a:p>
            <a:pPr marL="514350" indent="-514350">
              <a:spcBef>
                <a:spcPts val="1000"/>
              </a:spcBef>
            </a:pPr>
            <a:r>
              <a:rPr lang="fr-FR" dirty="0"/>
              <a:t>3) Premières</a:t>
            </a:r>
            <a:r>
              <a:rPr lang="fr-FR" dirty="0">
                <a:ea typeface="+mj-lt"/>
                <a:cs typeface="+mj-lt"/>
              </a:rPr>
              <a:t> idées pour trouver </a:t>
            </a:r>
            <a:r>
              <a:rPr lang="fr-FR">
                <a:ea typeface="+mj-lt"/>
                <a:cs typeface="+mj-lt"/>
              </a:rPr>
              <a:t>une solution</a:t>
            </a:r>
            <a:endParaRPr lang="fr-FR" dirty="0">
              <a:ea typeface="+mj-lt"/>
              <a:cs typeface="+mj-lt"/>
            </a:endParaRPr>
          </a:p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131FEB-82FB-6466-A27D-04182DAE7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30" y="1533351"/>
            <a:ext cx="11903901" cy="45809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>
                <a:solidFill>
                  <a:srgbClr val="FF0000"/>
                </a:solidFill>
                <a:ea typeface="+mn-lt"/>
                <a:cs typeface="+mn-lt"/>
              </a:rPr>
              <a:t>Problématique : </a:t>
            </a:r>
            <a:r>
              <a:rPr lang="fr-FR">
                <a:ea typeface="+mn-lt"/>
                <a:cs typeface="+mn-lt"/>
              </a:rPr>
              <a:t>Comment transformer automatiquement les données techniques issues d'une étude SUFIX 3D PRO en une nomenclature fiabilisée et optimisée, directement exploitable pour le chiffrage ?</a:t>
            </a:r>
            <a:endParaRPr lang="fr-FR"/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>
                <a:solidFill>
                  <a:srgbClr val="FF0000"/>
                </a:solidFill>
              </a:rPr>
              <a:t>Constat :</a:t>
            </a:r>
            <a:r>
              <a:rPr lang="fr-FR"/>
              <a:t> Format des données en sortie du logiciel toujours identique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Solution envisagée :</a:t>
            </a:r>
            <a:r>
              <a:rPr lang="fr-FR" dirty="0"/>
              <a:t> Script Python permettant d'automatiser tout le </a:t>
            </a:r>
            <a:r>
              <a:rPr lang="fr-FR"/>
              <a:t>processus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583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76CC36-16CD-B1A5-577A-429029C57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69" y="278316"/>
            <a:ext cx="11065398" cy="24058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fr-FR" dirty="0"/>
              <a:t>4)  Mise en œuvre d'une solution Python </a:t>
            </a:r>
            <a:br>
              <a:rPr lang="fr-FR" dirty="0"/>
            </a:br>
            <a:br>
              <a:rPr lang="fr-FR" dirty="0"/>
            </a:br>
            <a:endParaRPr lang="fr-FR" sz="3600"/>
          </a:p>
          <a:p>
            <a:endParaRPr lang="fr-FR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5AD945CA-870D-C011-3436-D2ED9B25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046" y="1099300"/>
            <a:ext cx="3261471" cy="500906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>
                <a:ea typeface="+mn-lt"/>
                <a:cs typeface="+mn-lt"/>
              </a:rPr>
              <a:t>Données d'entrées</a:t>
            </a:r>
            <a:endParaRPr lang="fr-FR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33482C34-C953-14D8-E289-994C70B2A5DD}"/>
              </a:ext>
            </a:extLst>
          </p:cNvPr>
          <p:cNvSpPr txBox="1">
            <a:spLocks/>
          </p:cNvSpPr>
          <p:nvPr/>
        </p:nvSpPr>
        <p:spPr>
          <a:xfrm>
            <a:off x="678983" y="2179605"/>
            <a:ext cx="3049269" cy="50090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>
                <a:ea typeface="+mn-lt"/>
                <a:cs typeface="+mn-lt"/>
              </a:rPr>
              <a:t>.CSV </a:t>
            </a:r>
            <a:r>
              <a:rPr lang="fr-FR" sz="2400">
                <a:ea typeface="+mn-lt"/>
                <a:cs typeface="+mn-lt"/>
              </a:rPr>
              <a:t>SUFIX</a:t>
            </a:r>
            <a:r>
              <a:rPr lang="fr-FR">
                <a:ea typeface="+mn-lt"/>
                <a:cs typeface="+mn-lt"/>
              </a:rPr>
              <a:t> 3D PRO</a:t>
            </a:r>
            <a:endParaRPr lang="fr-FR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D2A709D7-1383-CD70-D4B0-A6B6FD245D48}"/>
              </a:ext>
            </a:extLst>
          </p:cNvPr>
          <p:cNvSpPr txBox="1">
            <a:spLocks/>
          </p:cNvSpPr>
          <p:nvPr/>
        </p:nvSpPr>
        <p:spPr>
          <a:xfrm>
            <a:off x="4691539" y="2179604"/>
            <a:ext cx="2798484" cy="50090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>
                <a:ea typeface="+mn-lt"/>
                <a:cs typeface="+mn-lt"/>
              </a:rPr>
              <a:t>.PDF SUFIX 3D PRO</a:t>
            </a:r>
            <a:endParaRPr lang="fr-FR" sz="240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9B1B4AF-937F-8E43-F986-2261A0C49F4B}"/>
              </a:ext>
            </a:extLst>
          </p:cNvPr>
          <p:cNvSpPr txBox="1">
            <a:spLocks/>
          </p:cNvSpPr>
          <p:nvPr/>
        </p:nvSpPr>
        <p:spPr>
          <a:xfrm>
            <a:off x="8308627" y="2179603"/>
            <a:ext cx="3396508" cy="50090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>
                <a:ea typeface="+mn-lt"/>
                <a:cs typeface="+mn-lt"/>
              </a:rPr>
              <a:t>Référentiels internes</a:t>
            </a:r>
            <a:endParaRPr lang="fr-FR" sz="240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BB930ED8-6A9E-1FD6-BFE5-8A527DCE8606}"/>
              </a:ext>
            </a:extLst>
          </p:cNvPr>
          <p:cNvSpPr txBox="1">
            <a:spLocks/>
          </p:cNvSpPr>
          <p:nvPr/>
        </p:nvSpPr>
        <p:spPr>
          <a:xfrm>
            <a:off x="1238424" y="3269554"/>
            <a:ext cx="1940029" cy="254576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Nomenclature </a:t>
            </a: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Articles</a:t>
            </a:r>
            <a:endParaRPr lang="fr-FR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Nom Supports</a:t>
            </a:r>
            <a:endParaRPr lang="fr-FR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Niveaux</a:t>
            </a:r>
            <a:endParaRPr lang="fr-FR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Longueurs</a:t>
            </a:r>
            <a:endParaRPr lang="fr-FR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Quantités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1EE4A706-B67C-2E90-D549-A2DD6DFB28B4}"/>
              </a:ext>
            </a:extLst>
          </p:cNvPr>
          <p:cNvSpPr txBox="1">
            <a:spLocks/>
          </p:cNvSpPr>
          <p:nvPr/>
        </p:nvSpPr>
        <p:spPr>
          <a:xfrm>
            <a:off x="9273184" y="3269553"/>
            <a:ext cx="1467397" cy="16873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Articles</a:t>
            </a:r>
            <a:endParaRPr lang="fr-FR" sz="2000"/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Packaging</a:t>
            </a:r>
            <a:endParaRPr lang="fr-FR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Profils</a:t>
            </a: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Longueurs</a:t>
            </a:r>
            <a:endParaRPr lang="fr-FR" sz="200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8049CD22-2DFF-9F96-4DBA-EA0F4C66D090}"/>
              </a:ext>
            </a:extLst>
          </p:cNvPr>
          <p:cNvSpPr txBox="1">
            <a:spLocks/>
          </p:cNvSpPr>
          <p:nvPr/>
        </p:nvSpPr>
        <p:spPr>
          <a:xfrm>
            <a:off x="5058069" y="3028413"/>
            <a:ext cx="2065422" cy="371287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Nomenclature </a:t>
            </a: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Articles</a:t>
            </a:r>
            <a:endParaRPr lang="fr-FR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Nom Supports</a:t>
            </a:r>
            <a:endParaRPr lang="fr-FR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Niveaux</a:t>
            </a:r>
            <a:endParaRPr lang="fr-FR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Longueurs</a:t>
            </a:r>
            <a:endParaRPr lang="fr-FR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Quantités</a:t>
            </a: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Espacement</a:t>
            </a:r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Hypothèses</a:t>
            </a:r>
            <a:endParaRPr lang="fr-FR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 dirty="0">
                <a:ea typeface="+mn-lt"/>
                <a:cs typeface="+mn-lt"/>
              </a:rPr>
              <a:t>Notes de </a:t>
            </a:r>
            <a:r>
              <a:rPr lang="fr-FR" sz="2000">
                <a:ea typeface="+mn-lt"/>
                <a:cs typeface="+mn-lt"/>
              </a:rPr>
              <a:t>calculs</a:t>
            </a:r>
            <a:endParaRPr lang="fr-FR" sz="2000" dirty="0">
              <a:ea typeface="+mn-lt"/>
              <a:cs typeface="+mn-lt"/>
            </a:endParaRP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DE6C4C1-F34E-84B0-5654-8EF84A9C1DAD}"/>
              </a:ext>
            </a:extLst>
          </p:cNvPr>
          <p:cNvCxnSpPr/>
          <p:nvPr/>
        </p:nvCxnSpPr>
        <p:spPr>
          <a:xfrm flipH="1">
            <a:off x="6046978" y="1598653"/>
            <a:ext cx="6474" cy="5780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D447A997-3D8A-EA87-B1E5-1AE978535E34}"/>
              </a:ext>
            </a:extLst>
          </p:cNvPr>
          <p:cNvCxnSpPr/>
          <p:nvPr/>
        </p:nvCxnSpPr>
        <p:spPr>
          <a:xfrm>
            <a:off x="2118986" y="1816274"/>
            <a:ext cx="8037534" cy="208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7D5EF221-18FD-AA26-8828-33F93E42BCCD}"/>
              </a:ext>
            </a:extLst>
          </p:cNvPr>
          <p:cNvCxnSpPr>
            <a:cxnSpLocks/>
          </p:cNvCxnSpPr>
          <p:nvPr/>
        </p:nvCxnSpPr>
        <p:spPr>
          <a:xfrm flipH="1">
            <a:off x="2140523" y="1772273"/>
            <a:ext cx="6474" cy="4044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C7F47D8C-B192-A570-5550-180974EB6A8F}"/>
              </a:ext>
            </a:extLst>
          </p:cNvPr>
          <p:cNvCxnSpPr>
            <a:cxnSpLocks/>
          </p:cNvCxnSpPr>
          <p:nvPr/>
        </p:nvCxnSpPr>
        <p:spPr>
          <a:xfrm flipH="1">
            <a:off x="10146345" y="1772272"/>
            <a:ext cx="6474" cy="4044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9051765B-F7CD-EC17-3AB2-8F9D729FE838}"/>
              </a:ext>
            </a:extLst>
          </p:cNvPr>
          <p:cNvCxnSpPr>
            <a:cxnSpLocks/>
          </p:cNvCxnSpPr>
          <p:nvPr/>
        </p:nvCxnSpPr>
        <p:spPr>
          <a:xfrm flipH="1">
            <a:off x="2111586" y="2804348"/>
            <a:ext cx="6474" cy="4044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2E72A0D5-9E16-26DC-C682-9E8DE51D4661}"/>
              </a:ext>
            </a:extLst>
          </p:cNvPr>
          <p:cNvCxnSpPr>
            <a:cxnSpLocks/>
          </p:cNvCxnSpPr>
          <p:nvPr/>
        </p:nvCxnSpPr>
        <p:spPr>
          <a:xfrm flipH="1">
            <a:off x="10117408" y="2804347"/>
            <a:ext cx="6474" cy="4044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D41C421-D9CB-968D-882D-762BBF226816}"/>
              </a:ext>
            </a:extLst>
          </p:cNvPr>
          <p:cNvCxnSpPr>
            <a:cxnSpLocks/>
          </p:cNvCxnSpPr>
          <p:nvPr/>
        </p:nvCxnSpPr>
        <p:spPr>
          <a:xfrm flipH="1">
            <a:off x="6037331" y="2621081"/>
            <a:ext cx="6474" cy="4044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54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887CA-30BD-06FB-09A2-7152C9AF7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AEC4708-D58F-8202-2ABE-0F90E68A7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198546"/>
            <a:ext cx="10515600" cy="1325563"/>
          </a:xfrm>
        </p:spPr>
        <p:txBody>
          <a:bodyPr/>
          <a:lstStyle/>
          <a:p>
            <a:r>
              <a:rPr lang="fr-FR"/>
              <a:t>Architecture fonctionnelle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DDAACCC-A7D2-AAA1-C042-554AA94A40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082" r="-345"/>
          <a:stretch>
            <a:fillRect/>
          </a:stretch>
        </p:blipFill>
        <p:spPr>
          <a:xfrm>
            <a:off x="6685310" y="2348629"/>
            <a:ext cx="4416345" cy="4269292"/>
          </a:xfrm>
          <a:prstGeom prst="rect">
            <a:avLst/>
          </a:prstGeom>
        </p:spPr>
      </p:pic>
      <p:pic>
        <p:nvPicPr>
          <p:cNvPr id="22" name="Image 21" descr="Une image contenant texte, Polic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E25E4650-9A8B-AB2A-7EDD-1F67A60F22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47" r="-345" b="36867"/>
          <a:stretch>
            <a:fillRect/>
          </a:stretch>
        </p:blipFill>
        <p:spPr>
          <a:xfrm>
            <a:off x="1169096" y="855943"/>
            <a:ext cx="4348045" cy="591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31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DEFAA26-F507-0792-908C-DC074B9D506B}"/>
              </a:ext>
            </a:extLst>
          </p:cNvPr>
          <p:cNvSpPr txBox="1"/>
          <p:nvPr/>
        </p:nvSpPr>
        <p:spPr>
          <a:xfrm>
            <a:off x="511480" y="234863"/>
            <a:ext cx="10448794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4400">
                <a:solidFill>
                  <a:srgbClr val="000000"/>
                </a:solidFill>
                <a:latin typeface="Aptos"/>
                <a:ea typeface="Arial"/>
                <a:cs typeface="Arial"/>
              </a:rPr>
              <a:t>5) Présentation</a:t>
            </a:r>
            <a:r>
              <a:rPr lang="fr-FR" sz="4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de l'outils aux référents de l'entreprise</a:t>
            </a:r>
            <a:r>
              <a:rPr lang="fr-FR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fr-FR"/>
          </a:p>
          <a:p>
            <a:endParaRPr lang="fr-FR" sz="28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indent="-457200">
              <a:buFont typeface="Calibri"/>
              <a:buChar char="-"/>
            </a:pPr>
            <a:r>
              <a:rPr lang="fr-FR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Ingénieur R&amp;D en charge du logiciel</a:t>
            </a:r>
            <a:endParaRPr lang="fr-FR" sz="28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indent="-457200">
              <a:buFont typeface="Calibri"/>
              <a:buChar char="-"/>
            </a:pPr>
            <a:r>
              <a:rPr lang="fr-FR" sz="28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Product </a:t>
            </a:r>
            <a:r>
              <a:rPr lang="fr-FR" sz="28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Owner</a:t>
            </a:r>
            <a:r>
              <a:rPr lang="fr-FR" sz="28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AIRVANCE GROUP</a:t>
            </a:r>
          </a:p>
          <a:p>
            <a:pPr marL="457200" indent="-457200">
              <a:buFont typeface="Calibri"/>
              <a:buChar char="-"/>
            </a:pPr>
            <a:r>
              <a:rPr lang="fr-FR" sz="28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Directeur </a:t>
            </a:r>
            <a:r>
              <a:rPr lang="fr-FR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régionale Grand Nord Est OIV</a:t>
            </a:r>
            <a:endParaRPr lang="fr-FR" sz="28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indent="-457200">
              <a:buFont typeface="Calibri"/>
              <a:buChar char="-"/>
            </a:pPr>
            <a:r>
              <a:rPr lang="fr-FR" sz="280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Respon</a:t>
            </a:r>
            <a:r>
              <a:rPr lang="fr-FR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sable d'agence Vitry OIV</a:t>
            </a:r>
            <a:endParaRPr lang="fr-FR" sz="28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indent="-457200">
              <a:buFont typeface="Calibri"/>
              <a:buChar char="-"/>
            </a:pPr>
            <a:r>
              <a:rPr lang="fr-FR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Chefs produits Marketing OIV</a:t>
            </a:r>
            <a:endParaRPr lang="fr-FR" sz="28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indent="-457200">
              <a:buFont typeface="Calibri"/>
              <a:buChar char="-"/>
            </a:pPr>
            <a:r>
              <a:rPr lang="fr-FR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Directeur marketing</a:t>
            </a:r>
            <a:endParaRPr lang="fr-FR" sz="28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endParaRPr lang="fr-FR" sz="28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>
              <a:buFont typeface="Calibri"/>
            </a:pPr>
            <a:r>
              <a:rPr lang="fr-FR" sz="2800">
                <a:solidFill>
                  <a:srgbClr val="000000"/>
                </a:solidFill>
                <a:latin typeface="Aptos"/>
                <a:ea typeface="Arial"/>
                <a:cs typeface="Arial"/>
              </a:rPr>
              <a:t>Challengé par les équipes : Mise à jour de l'outil pour répondre à leurs besoins</a:t>
            </a:r>
            <a:endParaRPr lang="fr-FR" sz="28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/>
            <a:endParaRPr lang="fr-FR" sz="2800">
              <a:solidFill>
                <a:srgbClr val="000000"/>
              </a:solidFill>
              <a:latin typeface="Aptos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1336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E71C01-841D-3A1D-12B4-E154A0A9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96" y="394062"/>
            <a:ext cx="10515600" cy="1325563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spcBef>
                <a:spcPts val="0"/>
              </a:spcBef>
            </a:pPr>
            <a:endParaRPr lang="fr-FR" dirty="0">
              <a:latin typeface="Aptos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</a:pPr>
            <a:r>
              <a:rPr lang="fr-FR">
                <a:latin typeface="Aptos"/>
              </a:rPr>
              <a:t>6) Mise en évidence d'anomalies de données de l'entreprise </a:t>
            </a:r>
            <a:endParaRPr lang="en-US">
              <a:latin typeface="Aptos"/>
            </a:endParaRPr>
          </a:p>
          <a:p>
            <a:endParaRPr lang="fr-FR" dirty="0"/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61F0F4FA-2AEA-AAD1-2DBA-EF3650B644BA}"/>
              </a:ext>
            </a:extLst>
          </p:cNvPr>
          <p:cNvSpPr txBox="1"/>
          <p:nvPr/>
        </p:nvSpPr>
        <p:spPr>
          <a:xfrm>
            <a:off x="586529" y="2741787"/>
            <a:ext cx="10448794" cy="550920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7) Version finale validée pour réalisation </a:t>
            </a:r>
            <a:r>
              <a:rPr lang="fr-FR" sz="4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de </a:t>
            </a:r>
            <a:r>
              <a:rPr lang="fr-FR" sz="4400">
                <a:solidFill>
                  <a:srgbClr val="000000"/>
                </a:solidFill>
                <a:latin typeface="Aptos"/>
                <a:ea typeface="Arial"/>
                <a:cs typeface="Arial"/>
              </a:rPr>
              <a:t>tests</a:t>
            </a:r>
          </a:p>
          <a:p>
            <a:endParaRPr lang="fr-FR" sz="4400" dirty="0">
              <a:cs typeface="Arial"/>
            </a:endParaRPr>
          </a:p>
          <a:p>
            <a:r>
              <a:rPr lang="fr-FR" sz="4400">
                <a:solidFill>
                  <a:srgbClr val="000000"/>
                </a:solidFill>
                <a:latin typeface="Aptos"/>
                <a:ea typeface="Arial"/>
                <a:cs typeface="Arial"/>
              </a:rPr>
              <a:t>8) La suite du projet ?</a:t>
            </a:r>
            <a:endParaRPr lang="fr-FR" sz="44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endParaRPr lang="fr-FR" sz="44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514350" lvl="0" indent="-514350" rtl="0">
              <a:buAutoNum type="arabicParenR"/>
            </a:pPr>
            <a:endParaRPr lang="fr-FR" sz="44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/>
            <a:endParaRPr lang="fr-FR" sz="440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/>
            <a:endParaRPr lang="fr-FR" sz="4400">
              <a:solidFill>
                <a:srgbClr val="000000"/>
              </a:solidFill>
              <a:latin typeface="Aptos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22894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Soutenance Data Analyst &amp; IA</vt:lpstr>
      <vt:lpstr>Le déroulement du projet</vt:lpstr>
      <vt:lpstr>Le contexte</vt:lpstr>
      <vt:lpstr>2)  La problématique initiale</vt:lpstr>
      <vt:lpstr>3) Premières idées pour trouver une solution </vt:lpstr>
      <vt:lpstr>4)  Mise en œuvre d'une solution Python    </vt:lpstr>
      <vt:lpstr>Architecture fonctionnelle</vt:lpstr>
      <vt:lpstr>Présentation PowerPoint</vt:lpstr>
      <vt:lpstr> 6) Mise en évidence d'anomalies de données de l'entreprise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415</cp:revision>
  <dcterms:created xsi:type="dcterms:W3CDTF">2026-08-31T17:14:21Z</dcterms:created>
  <dcterms:modified xsi:type="dcterms:W3CDTF">2026-09-01T08:01:29Z</dcterms:modified>
</cp:coreProperties>
</file>